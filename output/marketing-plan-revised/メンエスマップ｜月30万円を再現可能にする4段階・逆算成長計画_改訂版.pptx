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b8989003104d0e" /><Relationship Type="http://schemas.openxmlformats.org/officeDocument/2006/relationships/extended-properties" Target="/docProps/app.xml" Id="R55fedfdbdcf4403c" /><Relationship Type="http://schemas.openxmlformats.org/officeDocument/2006/relationships/officeDocument" Target="/ppt/presentation.xml" Id="R3fc5c9d49074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6f4cef8b840c0"/>
  </p:sldMasterIdLst>
  <p:notesMasterIdLst>
    <p:notesMasterId xmlns:r="http://schemas.openxmlformats.org/officeDocument/2006/relationships" r:id="R578db02c55c74b88"/>
  </p:notesMasterIdLst>
  <p:sldIdLst>
    <p:sldId xmlns:r="http://schemas.openxmlformats.org/officeDocument/2006/relationships" id="256" r:id="Rc24b67f3214e4447"/>
    <p:sldId xmlns:r="http://schemas.openxmlformats.org/officeDocument/2006/relationships" id="257" r:id="R25d99e89d44747c0"/>
    <p:sldId xmlns:r="http://schemas.openxmlformats.org/officeDocument/2006/relationships" id="258" r:id="R8773abc605bf4c84"/>
    <p:sldId xmlns:r="http://schemas.openxmlformats.org/officeDocument/2006/relationships" id="259" r:id="R4494cd0982fd4758"/>
    <p:sldId xmlns:r="http://schemas.openxmlformats.org/officeDocument/2006/relationships" id="260" r:id="R8fddd38620d54c62"/>
    <p:sldId xmlns:r="http://schemas.openxmlformats.org/officeDocument/2006/relationships" id="261" r:id="R38fa44613e284cc4"/>
    <p:sldId xmlns:r="http://schemas.openxmlformats.org/officeDocument/2006/relationships" id="262" r:id="R47968f5a66674fc0"/>
    <p:sldId xmlns:r="http://schemas.openxmlformats.org/officeDocument/2006/relationships" id="263" r:id="Raa636bc5b6d7475f"/>
    <p:sldId xmlns:r="http://schemas.openxmlformats.org/officeDocument/2006/relationships" id="264" r:id="R7649d80374ab4456"/>
    <p:sldId xmlns:r="http://schemas.openxmlformats.org/officeDocument/2006/relationships" id="265" r:id="Rbb93a8e1aa1349f8"/>
    <p:sldId xmlns:r="http://schemas.openxmlformats.org/officeDocument/2006/relationships" id="266" r:id="R99bed33e0ec54a83"/>
    <p:sldId xmlns:r="http://schemas.openxmlformats.org/officeDocument/2006/relationships" id="267" r:id="Ra11c8edd02cb4b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16d3577d4e4330" /><Relationship Type="http://schemas.openxmlformats.org/officeDocument/2006/relationships/slideMaster" Target="/ppt/slideMasters/slideMaster1.xml" Id="R4716f4cef8b840c0" /><Relationship Type="http://schemas.openxmlformats.org/officeDocument/2006/relationships/notesMaster" Target="/ppt/notesMasters/notesMaster1.xml" Id="R578db02c55c74b88" /><Relationship Type="http://schemas.openxmlformats.org/officeDocument/2006/relationships/presProps" Target="/ppt/presProps.xml" Id="Rb697843bd6174c0b" /><Relationship Type="http://schemas.openxmlformats.org/officeDocument/2006/relationships/tableStyles" Target="/ppt/tableStyles.xml" Id="R10027e75edc54f87" /><Relationship Type="http://schemas.openxmlformats.org/officeDocument/2006/relationships/slide" Target="/ppt/slides/slide1.xml" Id="Rc24b67f3214e4447" /><Relationship Type="http://schemas.openxmlformats.org/officeDocument/2006/relationships/slide" Target="/ppt/slides/slide2.xml" Id="R25d99e89d44747c0" /><Relationship Type="http://schemas.openxmlformats.org/officeDocument/2006/relationships/slide" Target="/ppt/slides/slide3.xml" Id="R8773abc605bf4c84" /><Relationship Type="http://schemas.openxmlformats.org/officeDocument/2006/relationships/slide" Target="/ppt/slides/slide4.xml" Id="R4494cd0982fd4758" /><Relationship Type="http://schemas.openxmlformats.org/officeDocument/2006/relationships/slide" Target="/ppt/slides/slide5.xml" Id="R8fddd38620d54c62" /><Relationship Type="http://schemas.openxmlformats.org/officeDocument/2006/relationships/slide" Target="/ppt/slides/slide6.xml" Id="R38fa44613e284cc4" /><Relationship Type="http://schemas.openxmlformats.org/officeDocument/2006/relationships/slide" Target="/ppt/slides/slide7.xml" Id="R47968f5a66674fc0" /><Relationship Type="http://schemas.openxmlformats.org/officeDocument/2006/relationships/slide" Target="/ppt/slides/slide8.xml" Id="Raa636bc5b6d7475f" /><Relationship Type="http://schemas.openxmlformats.org/officeDocument/2006/relationships/slide" Target="/ppt/slides/slide9.xml" Id="R7649d80374ab4456" /><Relationship Type="http://schemas.openxmlformats.org/officeDocument/2006/relationships/slide" Target="/ppt/slides/slide10.xml" Id="Rbb93a8e1aa1349f8" /><Relationship Type="http://schemas.openxmlformats.org/officeDocument/2006/relationships/slide" Target="/ppt/slides/slide11.xml" Id="R99bed33e0ec54a83" /><Relationship Type="http://schemas.openxmlformats.org/officeDocument/2006/relationships/slide" Target="/ppt/slides/slide12.xml" Id="Ra11c8edd02cb4b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ff1a89277b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0d25d31c7b4f16" /><Relationship Type="http://schemas.openxmlformats.org/officeDocument/2006/relationships/notesMaster" Target="/ppt/notesMasters/notesMaster1.xml" Id="R1e468c243cd747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545d8f1fcf46db" /><Relationship Type="http://schemas.openxmlformats.org/officeDocument/2006/relationships/notesMaster" Target="/ppt/notesMasters/notesMaster1.xml" Id="R71ced41f7c8448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33bffc124f4e0c" /><Relationship Type="http://schemas.openxmlformats.org/officeDocument/2006/relationships/notesMaster" Target="/ppt/notesMasters/notesMaster1.xml" Id="R014eaa22737e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2a239b3c342b2" /><Relationship Type="http://schemas.openxmlformats.org/officeDocument/2006/relationships/notesMaster" Target="/ppt/notesMasters/notesMaster1.xml" Id="R462102ec308b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efc5973c14898" /><Relationship Type="http://schemas.openxmlformats.org/officeDocument/2006/relationships/notesMaster" Target="/ppt/notesMasters/notesMaster1.xml" Id="R416127e2446048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2f69b3500f4c38" /><Relationship Type="http://schemas.openxmlformats.org/officeDocument/2006/relationships/notesMaster" Target="/ppt/notesMasters/notesMaster1.xml" Id="Rdd00da5a33e346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b733b1d6cf4ebe" /><Relationship Type="http://schemas.openxmlformats.org/officeDocument/2006/relationships/notesMaster" Target="/ppt/notesMasters/notesMaster1.xml" Id="R0ff9f351208b4f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60bda41534b8e" /><Relationship Type="http://schemas.openxmlformats.org/officeDocument/2006/relationships/notesMaster" Target="/ppt/notesMasters/notesMaster1.xml" Id="R4c5b86c3245d44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b6160f02e4484c" /><Relationship Type="http://schemas.openxmlformats.org/officeDocument/2006/relationships/notesMaster" Target="/ppt/notesMasters/notesMaster1.xml" Id="Re42d5e33a296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9297b41d844c53" /><Relationship Type="http://schemas.openxmlformats.org/officeDocument/2006/relationships/notesMaster" Target="/ppt/notesMasters/notesMaster1.xml" Id="R8af05df2307446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1fda763c7742bb" /><Relationship Type="http://schemas.openxmlformats.org/officeDocument/2006/relationships/notesMaster" Target="/ppt/notesMasters/notesMaster1.xml" Id="R4f387631f62e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ef5c93380747b1" /><Relationship Type="http://schemas.openxmlformats.org/officeDocument/2006/relationships/notesMaster" Target="/ppt/notesMasters/notesMaster1.xml" Id="R35e4ca7467534e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元資料の狙いは維持しつつ、2026年内の課金開始を前提にしない計画へ改訂した。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file:///Users/okabayashi/Downloads/メンエスマップ｜月30万円を再現可能にする4段階・逆算成長計画.pdf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月30万円は最終目標であり、現在の最優先は売上ではなく、口コミ供給と検索効果が再現できる状態を作ること。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- file:///Users/okabayashi/Downloads/mens-esthe-site/playbook/metrics-log.md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値から従来ゲートまでを90日で埋めるには、残り284件を約12.9週で割り、週22件の口コミが必要。M28は30から3,000へ13週で100倍なので、週次複利約42.5%が必要。どちらも現在の供給実績からは課金開始の前提に置け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file:///Users/okabayashi/Downloads/mens-esthe-site/CLAUDE.md</a:t>
            </a:r>
          </a:p>
          <a:p xmlns:a="http://schemas.openxmlformats.org/drawingml/2006/main">
            <a:r>
              <a:t>- file:///Users/okabayashi/Downloads/mens-esthe-site/playbook/metrics-log.md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必達は90日での再現性確認。標準以降は2027年の条件付きシナリオで、売上目標と検証期限を混同しない。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file:///Users/okabayashi/Downloads/メンエスマップ｜月30万円を再現可能にする4段階・逆算成長計画.pdf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課金はAND条件。決済事業者には事業内容を正確に説明し、書面で承認された手段だけを使う。Stripeは成人向けコンテンツ・サービスを制限対象として案内し、最終判断は個別審査としている。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- https://support.stripe.com/questions/prohibited-and-restricted-businesses-list-faqs?locale=ja-JP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90日の出口は課金ではなく、口コミ供給とSEO効果の再現性を判断できること。第1期は実データ作り、第2期は対照実験、第3期は継続性判定に絞る。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file:///Users/okabayashi/Downloads/mens-esthe-site/CLAUDE.md</a:t>
            </a:r>
          </a:p>
          <a:p xmlns:a="http://schemas.openxmlformats.org/drawingml/2006/main">
            <a:r>
              <a:t>- file:///Users/okabayashi/Downloads/mens-esthe-site/playbook/metrics-log.md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投稿UIとファネル計測は既に実装済み。次のボトルネックは実際の投稿者獲得。協力レビューは本人の実体験に限り、報酬や高評価条件、掲載保証を設けない。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file:///Users/okabayashi/Downloads/mens-esthe-site/CLAUDE.md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本命3ページと近い条件の対照3ページを固定し、4週間は一度に一つの変数だけを動かす。まずインデックスと表示回数がゼロを脱するかを見る。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file:///Users/okabayashi/Downloads/mens-esthe-site/playbook/metrics-log.md</a:t>
            </a:r>
          </a:p>
          <a:p xmlns:a="http://schemas.openxmlformats.org/drawingml/2006/main">
            <a:r>
              <a:t>- file:///Users/okabayashi/Downloads/mens-esthe-site/CLAUDE.md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月30万円は売上総額のシナリオ。サブスク単独なら307人。217人シナリオは、アフィリエイト4万円と第三者広告4.8万円が2か月以上実測された場合だけ成立する。店舗からの掲載料は受け取らない。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- file:///Users/okabayashi/Downloads/メンエスマップ｜月30万円を再現可能にする4段階・逆算成長計画.pdf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次解約率10%、初期0人、毎月同数の新規有料会員を獲得すると仮定。12か月後217人には月30.2人、217人を維持するには月21.7人が必要。元資料の月42人は同じ仮定なら約301人に到達する。解約率10%自体も未検証の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file:///Users/okabayashi/Downloads/メンエスマップ｜月30万円を再現可能にする4段階・逆算成長計画.pdf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GA4のアクティブユーザーはサイト利用規模の指標で、課金導線に触れた人数ではない。購入CVRはユニークなペイウォール接触者を分母にする。課金後にUGCが毀損したら、先に課金CTAを戻す。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https://support.google.com/analytics/answer/12253918?hl=ja</a:t>
            </a:r>
          </a:p>
          <a:p xmlns:a="http://schemas.openxmlformats.org/drawingml/2006/main">
            <a:r>
              <a:t>- file:///Users/okabayashi/Downloads/mens-esthe-site/playbook/decisions.md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今週は新しいダッシュボードやUIではなく、投稿者獲得・口コミ密度・対照実験・統計配布に集中する。4週間後にデータを見て次の一手を決める。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file:///Users/okabayashi/Downloads/mens-esthe-site/CLAUDE.md</a:t>
            </a:r>
          </a:p>
          <a:p xmlns:a="http://schemas.openxmlformats.org/drawingml/2006/main">
            <a:r>
              <a:t>- file:///Users/okabayashi/Downloads/mens-esthe-site/playbook/metrics-log.md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45fe0ffd7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9d7af93024441b" /><Relationship Type="http://schemas.openxmlformats.org/officeDocument/2006/relationships/slideLayout" Target="/ppt/slideLayouts/slideLayout1.xml" Id="R246dd4105ce342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dd4105ce342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38c1e8d624bb0" /><Relationship Type="http://schemas.openxmlformats.org/officeDocument/2006/relationships/notesSlide" Target="/ppt/notesSlides/notesSlide1.xml" Id="R5ee9c0d2a9b1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56825216a4eaf" /><Relationship Type="http://schemas.openxmlformats.org/officeDocument/2006/relationships/notesSlide" Target="/ppt/notesSlides/notesSlide2.xml" Id="R91c1575b289d4c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ab414c0484774" /><Relationship Type="http://schemas.openxmlformats.org/officeDocument/2006/relationships/notesSlide" Target="/ppt/notesSlides/notesSlide3.xml" Id="R2381f19bb7f5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25c99b517470b" /><Relationship Type="http://schemas.openxmlformats.org/officeDocument/2006/relationships/notesSlide" Target="/ppt/notesSlides/notesSlide4.xml" Id="R1eae8b39f5df4f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f58fd06ee4950" /><Relationship Type="http://schemas.openxmlformats.org/officeDocument/2006/relationships/notesSlide" Target="/ppt/notesSlides/notesSlide5.xml" Id="Rd04fb47e25f64c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99257158a405b" /><Relationship Type="http://schemas.openxmlformats.org/officeDocument/2006/relationships/notesSlide" Target="/ppt/notesSlides/notesSlide6.xml" Id="Rb4f611015c9d43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7f0900d924c54" /><Relationship Type="http://schemas.openxmlformats.org/officeDocument/2006/relationships/notesSlide" Target="/ppt/notesSlides/notesSlide7.xml" Id="R28d9d8c4d88545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8b3b8405448fc" /><Relationship Type="http://schemas.openxmlformats.org/officeDocument/2006/relationships/notesSlide" Target="/ppt/notesSlides/notesSlide8.xml" Id="R190cc9bbfe5f40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5f3d1224b43a4" /><Relationship Type="http://schemas.openxmlformats.org/officeDocument/2006/relationships/notesSlide" Target="/ppt/notesSlides/notesSlide9.xml" Id="Rbc03b68b113f47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34e15338464b" /><Relationship Type="http://schemas.openxmlformats.org/officeDocument/2006/relationships/notesSlide" Target="/ppt/notesSlides/notesSlide10.xml" Id="Rf114e100c60c47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75cc8930f47ff" /><Relationship Type="http://schemas.openxmlformats.org/officeDocument/2006/relationships/notesSlide" Target="/ppt/notesSlides/notesSlide11.xml" Id="R0e578f76f77446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b26b2f5a547a5" /><Relationship Type="http://schemas.openxmlformats.org/officeDocument/2006/relationships/notesSlide" Target="/ppt/notesSlides/notesSlide12.xml" Id="R6937e3447f3d4c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7204C-EB51-4439-BFDF-D950451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98092-79C0-42A4-A37A-4DCA4109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MEN-ESTHE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0FF75-8304-4960-A816-BA4B09CA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月30万円を再現可能にする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1E3EA-0145-42B9-A45F-A34A230F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46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改訂版・逆算成長計画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720DC-2936-466A-A973-A3CE8E35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0A6C3-C9DF-4C75-9CF6-7C449A21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2026年は供給と検索を実証し、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2027年に課金可否を判断する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436AD-DFD6-4F91-AD73-F6435742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161CB-216E-4BF8-BCB8-8D19355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3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7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5339F-F99C-49C5-A2E9-61070EF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6592F-43AB-4BC3-A547-ECAD124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7A6A6-CE5C-43C1-85A2-A11B6A32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課金開始ではない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43803-DC4D-449F-987D-8DC97AFA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4332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再現性を判定する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8CFC3-264E-490F-B5CA-E8492588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053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CFCFC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CFCFCF"/>
                </a:solidFill>
                <a:latin typeface="Hiragino Sans"/>
                <a:ea typeface="Hiragino Sans"/>
                <a:cs typeface="Hiragino Sans"/>
              </a:rPr>
              <a:t>供給  ×  SEO  ×  継続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8DD8C-4746-47F1-9D42-9F4C97BA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2026.08.14</a:t>
            </a:r>
          </a:p>
        </p:txBody>
      </p:sp>
    </p:spTree>
    <p:extLst>
      <p:ext uri="{BB962C8B-B14F-4D97-AF65-F5344CB8AC3E}">
        <p14:creationId xmlns:p14="http://schemas.microsoft.com/office/powerpoint/2010/main" val="1808754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79E0E-3439-4C33-B198-723AEB66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B5084-4F54-4F0B-96ED-1B88E588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6CC88-B38C-4634-8031-A18659DD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EXECUTIVE CORRECTION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67769-D1EC-4A7E-9004-63061F67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月30万円の前に、売る資格を作る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62AA8-F4BE-46B4-9429-C7AC6825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991CF-CCE4-4FA2-B1E9-B73E6545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D3496-3D11-4B13-BF9A-D0A7758A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いま不足しているのは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課金機能ではない。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1D2C1-D79A-40CC-A011-5DBEC7E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実際の口コミが増え、Googleに読まれ、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次の投稿者を呼ぶ循環の証拠がない。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48F0E-EF25-4F68-A843-C9379A52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4000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4F148-5963-438B-9178-148ADB62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2026年内はユーザー課金しない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83BA3-EB3A-4090-A56A-8A5EE2F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2A642-1946-4B07-805F-BA0925FA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526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供給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409CA-7922-4374-91BF-DA3D79D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94C5F-E6D9-48AE-9F55-833EE028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複数の実投稿者から口コミが継続して増える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61995-261B-48EB-84B3-7217D7CC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4B598-773D-47BD-B0CF-9C3CE50F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099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検索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101D3-95DC-4C5F-8C3C-B0AD068F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093A2-84F9-48A5-B18B-50DCD80E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口コミ追加後に対象ページの表示回数が動く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28131-8AE7-4A9C-85A4-84AF6349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6B5CD-2D45-4FB1-ACB9-9867724D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672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継続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D343F-7F3C-4358-9041-A4B5C4D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19971-19F9-42ED-91DF-09A4704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006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単発でなく、同じ手順を翌月も再現できる</a:t>
            </a:r>
          </a:p>
        </p:txBody>
      </p:sp>
    </p:spTree>
    <p:extLst>
      <p:ext uri="{BB962C8B-B14F-4D97-AF65-F5344CB8AC3E}">
        <p14:creationId xmlns:p14="http://schemas.microsoft.com/office/powerpoint/2010/main" val="896725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0C0EBA-D17D-4F76-8295-D7784D45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A1E8E-1B9D-4A9D-85B2-678C8D8B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40F6B-E565-4829-80F8-D57BD65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REALITY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4C8F0-697E-48E1-BE27-B4A9062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90日で課金ゲート到達は、現在値と整合しない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1208E-864C-45EF-B04E-1AC6E787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90日は『課金準備』ではなく『仮説検証』に使う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A167C-67FC-47F4-A1E6-BFE7CC18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AF346-ECAC-4D58-BF8E-17B5528C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2C5C4-E1A3-466A-93FC-615FEEA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514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DE84-C253-433F-AEE0-B533D929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有効口コミ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4B0C8-7CE3-4D2C-A577-BCFE515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364A2-17F4-4AD3-BDE0-9AA31327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ゲート  300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D5446-0B0D-44BC-B108-C922183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88483-7979-469E-BB5C-207A3A9D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5.3%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35A3B-3C86-4937-AEC1-A78CA339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514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763FA-A3F7-4B6E-BB4C-5BBC6CD3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85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M28利用者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8FECA-F7EB-4825-89FE-0DE6E1C4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C1AD1-7AD1-4F00-A881-009B2CB7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ゲート  3,000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5E5F5-E181-4C28-8472-35AC4348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9950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0CC41-B442-4848-B67F-F2AACBA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1.0%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AD479-2F9A-4790-A73A-EE86D3AC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514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2F95E-58D2-446D-9ABF-093C5E6C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非運営UGC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97A12-91F3-4292-A2C2-B3FB6941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D61E9-2A85-4268-8519-B2BFB22F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ゲート  20 /月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8B675-754E-486D-BB91-A98DACA5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49544-3D77-4422-95D3-9C8FA611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245904-8E49-4527-B317-5FCADFB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514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B5E00A-355D-49AA-9984-EA5DBCDF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決済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C7D30-4771-45EB-AF37-15617EBE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未実装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D2C5B5-0649-4441-BEA0-D6B2BEC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ゲート  承認＋E2E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BCF1C8-7698-4851-BFCE-7BD0FCDD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09950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DB5D2-7E73-40AA-8100-27CB9B5E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33775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未達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9908D-DD1F-461C-B8BB-F965CF1A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8966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687A9-5028-40A6-8227-318A5A96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90日で埋める場合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7A556-61EA-4DC0-8CF1-C93E3E7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22件 / 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64496-1DFE-42D4-9021-E5475B1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0D0D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D0D0D0"/>
                </a:solidFill>
                <a:latin typeface="Hiragino Sans"/>
                <a:ea typeface="Hiragino Sans"/>
                <a:cs typeface="Hiragino Sans"/>
              </a:rPr>
              <a:t>残り284件 ÷ 約12.9週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4F2D17-094F-48D2-B07A-2A73710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67225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AE065-803E-42BE-B850-654A497C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57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42.5% / 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78973-F096-4620-89E1-AD855B8D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48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0D0D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D0D0D0"/>
                </a:solidFill>
                <a:latin typeface="Hiragino Sans"/>
                <a:ea typeface="Hiragino Sans"/>
                <a:cs typeface="Hiragino Sans"/>
              </a:rPr>
              <a:t>M28を13週で100倍にする複利成長率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B4EFA4-50D7-4FAC-988A-121FECE8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結論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0BB4A-C4CC-460B-A223-513CE5BA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672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課金開始を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90日の出口にしない</a:t>
            </a:r>
          </a:p>
        </p:txBody>
      </p:sp>
    </p:spTree>
    <p:extLst>
      <p:ext uri="{BB962C8B-B14F-4D97-AF65-F5344CB8AC3E}">
        <p14:creationId xmlns:p14="http://schemas.microsoft.com/office/powerpoint/2010/main" val="793271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19A14D-0A54-4C6E-A2EC-0E2DBDF4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658B1-8EC9-49F5-B832-62D5D188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2FA0F-144F-46EF-932C-64A507C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GROWTH STAGES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FCC26-5BE3-44C2-B0AD-AAAAAFB0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目標を4段階に分け、期限と意味を混同しない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10315-B08B-4EB8-ACD3-D2F98889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621C6-4E2D-4482-A451-FECD8C2C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4E5DA-B146-4B65-9F02-C64E0341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19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9050">
            <a:solidFill>
              <a:srgbClr val="FF5A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A4748-520A-477B-806D-3A811302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76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D2EB1-0814-4EF1-B3AA-5A3D307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47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必達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F16DE-99E0-4CB7-9C6C-9330DEDF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05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90日で供給とSEOの再現性を判定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F1B63-FA2F-44E3-93EF-DE14ECE2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BFE16-8CCF-49FC-8B32-69FE2995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7B230-5747-4364-BE6C-A0B86B8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標準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21219-720F-47DB-97D4-C415218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33700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2027年、課金ゲート通過後に月商30万円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EAF15-1C4E-496C-8AE4-9A67DB5A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5532E-8790-4ACD-ABAB-F3B72BDF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578BF-D6BC-46C5-91B2-279DA8CA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背伸び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FA12D-DEC6-453B-8E9E-18A317D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解約率・CVR・第三者収益を実測して月商60万円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1935D-4349-4956-AF1D-014E5C2B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019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FEB18-E471-42B3-B5FA-EF1AF1B7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625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9A9A9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9A9A9A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19168-3B6B-4975-9FDF-7D810C4B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9A9A9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9A9A9A"/>
                </a:solidFill>
                <a:latin typeface="Hiragino Sans"/>
                <a:ea typeface="Hiragino Sans"/>
                <a:cs typeface="Hiragino Sans"/>
              </a:rPr>
              <a:t>ムーンショット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75147-4AE9-42EB-B38E-CF9B642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91100"/>
            <a:ext cx="672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複数チャネルが再現して月商100万円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D2D8C-E127-4452-B035-59123FD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1927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0D7C2-EE04-4BBA-B6F8-ACB1A9A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764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いま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2BEEB-0085-4655-9C52-22B46A44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990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F5270-AAE0-4CD1-8EDF-4D11695E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05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条件付き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7ECE59-5F17-4E48-8100-EAD92EB3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76675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9F6"/>
          </a:solidFill>
          <a:ln xmlns:a="http://schemas.openxmlformats.org/drawingml/2006/main" w="0">
            <a:solidFill>
              <a:srgbClr val="FAF9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031D8-69D1-4E24-81F7-54D941EB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338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未来シナリオ</a:t>
            </a:r>
          </a:p>
        </p:txBody>
      </p:sp>
    </p:spTree>
    <p:extLst>
      <p:ext uri="{BB962C8B-B14F-4D97-AF65-F5344CB8AC3E}">
        <p14:creationId xmlns:p14="http://schemas.microsoft.com/office/powerpoint/2010/main" val="689180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DC1DFE-C814-49DB-8491-57D9DF52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271B7-F187-4D35-AF31-A62018BB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B5415-3FE7-48A9-B8C2-20AC7029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PAID LAUNCH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7E890-AC98-4631-B97D-7D0388C9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課金開始は「5条件すべて達成」で判断する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E5B4C-95DF-4A06-B110-824F66A5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売上目標ではなく、供給・需要・決済・運用の安全条件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71841-4E26-4C5E-9683-495CF6A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E57ED-37C0-4E98-AF3E-7957FA90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A3E80-AC35-4B72-AD45-27EFD10D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B171C-23F0-4C70-95F4-9E89F72E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859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在庫と密度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4395B-F6DF-4ECF-86EE-0C07F1A8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04975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有効口コミ 300件以上  ＋  5件以上あるページ 30以上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0DB52-68BF-47F3-8878-1D96AF72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95450"/>
            <a:ext cx="619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D51CA-B385-4487-9D1B-78BF661E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BE945-879C-4D3A-8BA7-002BEB32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05F8A-50A3-4890-8237-AB1F9F0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D3545-AAF0-47A1-BC7D-28D6737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利用規模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4ECFA-7BD0-480B-847D-5D9CAEB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3365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M28アクティブユーザー 3,000以上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BFE61-55F6-4B4E-A6B4-8EB174D6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24125"/>
            <a:ext cx="619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42E93-04BB-4FB7-98B0-037DBC30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8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66937-E91D-4C12-AA28-F763AC5C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45533-B63E-47A4-B19F-AA5791A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B23D4-EF26-438B-9D61-47C2A17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4327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自走UGC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93738-4ABB-4365-BA96-34B6C678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非運営UGC 20件 / 月 × 2か月  ＋  投稿者5人 / 月以上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58A16-54B0-4E15-AE96-44C46AF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52800"/>
            <a:ext cx="619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E42D8-0EE5-44E7-B367-EF874FB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0E1B2-FF11-4DAC-9AC8-B28E2A69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7DDB9-9D15-4A67-8DDD-589E266A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8F145-F3B2-4AC8-84BA-DFFF262A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決済適格性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2D908-B879-44D3-B1DB-480C3049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9100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正確な事業説明で、決済手段の書面承認を取得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38897-9AFA-436C-8240-166D554F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81475"/>
            <a:ext cx="619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8C676-0834-4A6C-9D53-4968F902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386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DBAE0-A131-46D1-A4A1-3446B54A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577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38652C-AA53-40EB-B8DF-0F23FDCA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402A20-6722-4E34-9FA6-7984417F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本番運用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578F33-ADAC-4B54-9E52-957B3E9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9675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決済・権限・返金・問い合わせを本番相当E2Eで確認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0E3EB9-2DBE-4A9D-80FA-3095B3F3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E45FDC-176B-4FE1-8F78-419D7C78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619250"/>
            <a:ext cx="838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6EDFF7-64BC-4775-BAC9-48F8BE7C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066925"/>
            <a:ext cx="47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判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2F97E-1F4D-4F35-9748-53C951D8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0003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CE248-2DF7-4738-B4F3-83615214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333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4B6EE8-BD8F-400C-9ECB-440BFE98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829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以降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73317-9B2B-473B-A737-A26FB03A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※ Stripeを含め、事業内容を隠した申請や、審査前提の見切り実装は行わない</a:t>
            </a:r>
          </a:p>
        </p:txBody>
      </p:sp>
    </p:spTree>
    <p:extLst>
      <p:ext uri="{BB962C8B-B14F-4D97-AF65-F5344CB8AC3E}">
        <p14:creationId xmlns:p14="http://schemas.microsoft.com/office/powerpoint/2010/main" val="226530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6459CA-8820-4AC5-B581-A4E6F51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84855-A153-423E-87BF-E0F2ECC4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F1884-3B30-4765-87D6-9020A70A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90-DAY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9C7EA-DCCB-4DE8-AE4A-A3D02A4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90日の出口は『再現性の判定』に置く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8EA94-9AC4-4D09-BA79-DD32FD98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新機能を増やすより、実ユーザーと対照実験を作る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62DB0-19AD-46B6-93A1-9CEBFF48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3955C-D7F3-4651-BA39-C6D35F0B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E7A49-1880-40CB-BF1B-6DBFBC5C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3147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A0AFE-A09B-4E99-8B04-C6ABB9D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31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8F51D-14D0-4229-A654-281B6B53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0–14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DA91F-18F6-40B5-927E-4861B784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実データを作る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547D5-6C7C-463A-A264-CA81C15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A4626-E1D8-40A6-8A9F-A6A73D2A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本命3ページを各5件以上へ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A9727-3D3E-4444-A829-70D7C14D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AA3A4-E69C-4165-A566-D58AE5F6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協力者10人に個別招待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C1E2B-20DD-4548-87D8-E33BC014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1AEC5-E3FC-440E-A0F1-838E0D2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非運営の初回3–5件を獲得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5F4C2-A4E2-4742-B7F3-1A8A1681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1F17B-E7D3-45A4-A071-E53E4C3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/statsを関連先10件へ配布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8781B-65F3-498C-BA0F-B6F4C5E0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62125"/>
            <a:ext cx="33147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0714B-F0E5-4F07-A927-7C8EC198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62125"/>
            <a:ext cx="331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3E439-1F6F-4533-95BA-A960ED45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3357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15–45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4932F-25C5-400C-9C3E-70542A04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因果を測る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1B518-3D0E-49DA-AF6D-BE7F7C8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7E2CE-3D55-4F25-858D-5C7E97A7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本命3＋対照3を4週間固定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7A198-7F46-40D6-9236-59E3C30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0365BB-CCBA-40CC-A326-3F017DE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索引・表示・順位・クリックを追跡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5EDAD-B6BA-43A0-A34E-7D39D3C5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CB31F-5B14-4969-9841-E2DC907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招待→開始→有効投稿を計測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BF3CC-5781-43F7-8939-31804091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55573-DE8A-405B-BC97-CDED81F6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81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決済条件は調査のみ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1967D-4C45-4747-9967-BFFB8055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62125"/>
            <a:ext cx="36957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88A546-C7BB-4E99-B79A-D6BD7C4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62125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665903-5E7B-43BF-988C-59E27D40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46–90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C00E3C-CDA6-4B82-B1FD-B66337F8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継続性を判定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0B553-FD6C-42E8-98B9-54AAC6B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2F44FB-54D5-44F9-ADF3-8C1BB65F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非運営UGC 10件/月・5人を最低線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843437-30DB-4E7C-A5E0-EDAB2AC0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DFCA1-70D2-4F40-8C60-E3C25DC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20件/月×2か月はストレッチ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82CFDC-C46C-4803-A966-712DF88D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2EB202-B500-461E-B2B2-ABD94840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9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5件以上ページ数と表示回数を確認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2D9D02-7DCF-4BF2-AF8C-56377B09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FB251A-02A4-4089-B71C-3573EF7B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81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2027年のGo / No-Goを決める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9D5906-565F-4DDC-8EAE-3866DA49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FCE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5FF59E-2E8C-4937-A0CE-56A29411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課金UIを作らない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2C9A95-E836-45E5-A1D4-BB5B8EF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38825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0">
            <a:solidFill>
              <a:srgbClr val="FCED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5716D2-FDC3-46C4-963D-C3ABA738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895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新ダッシュボードを増やさない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228B2F-F38B-48F0-AB02-6204C3C2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95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代わりに、毎週同じ4数字だけを見る</a:t>
            </a:r>
          </a:p>
        </p:txBody>
      </p:sp>
    </p:spTree>
    <p:extLst>
      <p:ext uri="{BB962C8B-B14F-4D97-AF65-F5344CB8AC3E}">
        <p14:creationId xmlns:p14="http://schemas.microsoft.com/office/powerpoint/2010/main" val="949075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E112C-7340-47DD-ADED-3EA2FDE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D0EBB-A67B-469A-88C2-07E25F9F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A7043-01AD-4DEC-B957-62870F8A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GROWTH FLYWHEEL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BF191-18C4-4579-B2DA-B6FDA7E2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次のボトルネックはUIではなく、投稿者獲得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EB4E8-F41F-460C-83F8-A5F7C9AF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投稿体験と計測は既にある。実際に循環へ人を通す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918C6-59F6-4209-B5B0-4D1CB605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0C0A5-E06A-4836-B555-74607912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62EF9-090E-4C06-A205-EDB42F0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885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9050">
            <a:solidFill>
              <a:srgbClr val="FF5A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56740-F48F-46C6-8258-95175629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C2D71-EC7F-4B26-834E-DB23DC5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955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10人を招待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47931-08AB-4C7A-AD4F-7DE0BF17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X・紹介・応募・知人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2A5D0-1A9D-4918-8814-EC904BBF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95575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3C4B9-641A-4A00-A90F-559FD2BA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57475" y="26289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738F5-56B6-4AB5-B96A-C15BED8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66900"/>
            <a:ext cx="1885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0B0C3-CCA6-496D-AB12-AC876FB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97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EC191-F14B-4DE4-992C-91EAEDF8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955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実体験を投稿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15282-59E7-441E-A982-67FBCE8B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051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200字以上・掲載保証なし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A0A9E-F16E-47C9-B366-68868C98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95575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FC9E3-F8F3-4D20-8E36-50C4EB54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48225" y="26289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92E7A-DD04-403C-A9CC-AC48A383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66900"/>
            <a:ext cx="1885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62B81-5494-4958-A54C-5B5D8D9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97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94BD9-EAFC-473F-A927-4A80A53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ページが濃くなる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14F84-B56C-4FD4-AD93-0E90D41C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051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1ページ5件以上へ集中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57C12-5764-4609-B8D3-5D8A423E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95575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CF326-3F0E-40F5-8152-FDAEA526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26289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CB0D00-EB9D-40BA-87CB-60C2F63E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1885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4ACBF-8394-498A-8F42-CE050F2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097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D7485-FF81-4E2C-9954-6B854DF2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955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検索で読まれる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233764-E627-48A9-BC8F-018E168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051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索引→表示→クリック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D029E-EA95-478F-B0F1-B1297184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95575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4BAE81-CF4E-434D-9B2B-BD9BA541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29725" y="26289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BC2D3C-F6A7-4F65-AA71-D084F82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66900"/>
            <a:ext cx="1885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106A2A-B190-4358-AB07-4AC0A534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097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B68077-B0F3-4038-B360-C67DDD7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955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次の投稿者へ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B9173B-566E-4AB1-9CB7-68B08B7C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051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読者をW2Rへ戻す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4FCDD2-3D9C-47B6-8525-BFBE42A0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896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D53585-A903-457C-B0A1-CA07CEE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既に実装済み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4C7B5E-2460-4740-A408-DAB0EBD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66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D5D5D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D5D5D5"/>
                </a:solidFill>
                <a:latin typeface="Hiragino Sans"/>
                <a:ea typeface="Hiragino Sans"/>
                <a:cs typeface="Hiragino Sans"/>
              </a:rPr>
              <a:t>対象プリセット  /  200・700字メーター  /  投稿ファネル計測  /  月次stats自動更新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757319-642F-480D-81EE-5AABCB2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82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B84B0B-52C0-4AE8-9848-2EB0B35C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今やること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2B1191-BFED-4176-9610-BD36D9EA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435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本物の投稿者を呼び、3ページに口コミを集中させる</a:t>
            </a:r>
          </a:p>
        </p:txBody>
      </p:sp>
    </p:spTree>
    <p:extLst>
      <p:ext uri="{BB962C8B-B14F-4D97-AF65-F5344CB8AC3E}">
        <p14:creationId xmlns:p14="http://schemas.microsoft.com/office/powerpoint/2010/main" val="1755961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730684-4770-4B43-B3B3-243C35C8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493A5-B5E3-4DD6-AF5F-C3E9E986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330CC-63CC-45C8-9FF9-03B9AB3B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CONTROLLED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A279F-C80C-4CF9-96EB-4665C78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口コミ→検索の因果は、3＋3ページで検証する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F5A6-9FD6-41CE-BBAC-BE5E456F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一度に一つの変数だけを動かし、4週間固定する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981CF-B70E-4674-A1F8-924A6850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D3627-176A-4C74-A47D-64913D8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F6782-5CE6-4451-9C5E-9D97E6EE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9050">
            <a:solidFill>
              <a:srgbClr val="FF5A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CA2AD-6222-4C2C-9886-D4BCFEB9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5F7B7-1A09-4962-8575-E7B5448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TEST  ×3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A9C07-79D0-4DA8-92CA-9CBE2491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口コミを各5件以上へ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72E8-918C-4253-84AF-598B61D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9DCC0-F332-4FC3-997C-E160A626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タイトル・内部リンク・UIは固定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2FB44-2C39-44F6-B0DA-ED70DFC7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8DB29-5CDC-4BE3-BEE5-3C7FAA8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追加する変数は口コミだけ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5DEE9-B620-4853-B08D-5412499D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8C71E-9440-44C5-8770-B0335916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実体験・対象一致・重複なし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A8A93-FB19-4CDE-9324-7D45969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4週間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99DE8-DA83-4D4F-B38A-2CA4E488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5619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8B018-7174-4E80-8ED7-B4211671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71675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D55E1-0368-465F-BD94-06E5727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CONTROL  ×3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B0DC4-DDCD-45F0-A6A6-A76665E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条件が近いページを固定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2C808-E5A8-4364-B585-2345535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56668-4E63-40D9-82E6-E5F703DC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同じ地域・近い元表示水準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1A789-9975-41DC-B298-9B8AFCE5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24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026E4-8934-478F-95E5-3D81AC2C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期間中は口コミを追加しない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D1F84-9D6B-434B-BB59-761802B9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388E6-8910-4A07-9C25-E0FDB95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42424"/>
                </a:solidFill>
                <a:latin typeface="Hiragino Sans"/>
                <a:ea typeface="Hiragino Sans"/>
                <a:cs typeface="Hiragino Sans"/>
              </a:rPr>
              <a:t>索引状態も同時に確認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15628-3464-49E1-A112-4C6AB947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判定順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4C8F7-3D84-4995-B57E-DC9D378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676900"/>
            <a:ext cx="1466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65C8B-91DC-4306-A36B-C63912CD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734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① index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E0690-6393-4699-A37A-77E9732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578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solidFill>
              <a:srgbClr val="92929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8EE971-9304-4683-8991-3EF4F602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86125" y="57912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solidFill>
              <a:srgbClr val="92929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8E87F6-DD39-4BC2-9020-6FAF689F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676900"/>
            <a:ext cx="1466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F9F6"/>
          </a:solidFill>
          <a:ln xmlns:a="http://schemas.openxmlformats.org/drawingml/2006/main" w="0">
            <a:solidFill>
              <a:srgbClr val="FAF9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CF727-2268-400A-960E-83811B5E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734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表示&gt;0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C7C08B-6C70-4BF2-A1D1-F2C86E46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solidFill>
              <a:srgbClr val="92929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90D11A-3A06-4D64-93A2-7D02E66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76825" y="57912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solidFill>
              <a:srgbClr val="92929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19FD0A-F20B-490F-89E3-E54AC106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676900"/>
            <a:ext cx="1466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F9F6"/>
          </a:solidFill>
          <a:ln xmlns:a="http://schemas.openxmlformats.org/drawingml/2006/main" w="0">
            <a:solidFill>
              <a:srgbClr val="FAF9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DF451F-7F01-4838-AA28-C034FF9C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734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順位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73B346-F80D-470E-A263-AA9719B5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578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solidFill>
              <a:srgbClr val="92929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2C7C6F-E3D9-4C3D-B02C-B598453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67525" y="57912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solidFill>
              <a:srgbClr val="9292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2E3B34-0E49-44F5-BE6C-D9BB6A81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76900"/>
            <a:ext cx="1466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F9F6"/>
          </a:solidFill>
          <a:ln xmlns:a="http://schemas.openxmlformats.org/drawingml/2006/main" w="0">
            <a:solidFill>
              <a:srgbClr val="FAF9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55D12D-1A5D-4342-8D0E-18AD5994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34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④ click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103F17-EC19-4836-9D23-EE1548D0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24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/stats配布 10件は、被リンクの別実験として並行</a:t>
            </a:r>
          </a:p>
        </p:txBody>
      </p:sp>
    </p:spTree>
    <p:extLst>
      <p:ext uri="{BB962C8B-B14F-4D97-AF65-F5344CB8AC3E}">
        <p14:creationId xmlns:p14="http://schemas.microsoft.com/office/powerpoint/2010/main" val="1051674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27FDD-5F0D-4D6B-A002-399C6220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C1994-9C8A-4E56-B3E3-DC4FDB34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30D8D-AA09-4DD0-8EFC-29F1288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REVENUE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E8660-F4D6-4DF2-83D0-6D1B23F5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月30万円は『売上総額のシナリオ』として管理する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1F7EB-6EE0-4E20-8FF7-CD238A5A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未検証のアフィリエイト・広告は、実績が出るまでゼロ扱い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08F5B-279D-491D-AA40-C9DDB1D9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31EDC-6ED3-4170-BD60-C760FCF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36ECC-94F0-4ACA-903C-5B45CDE1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069D2-D4BB-4252-A8C3-B1B54B0D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  サブスク単独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FC151-F0C8-4F5A-81A3-8D95CFA6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46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307人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DF5F2-0BEA-4D14-8C34-3B675203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  ¥980  =  ¥300,860 / 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6D8F4-698B-4FC7-80BD-22ACA2D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23211-BA41-405A-ACF3-89C39E79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D4D4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D4D4D4"/>
                </a:solidFill>
                <a:latin typeface="Hiragino Sans"/>
                <a:ea typeface="Hiragino Sans"/>
                <a:cs typeface="Hiragino Sans"/>
              </a:rPr>
              <a:t>他収益がゼロでも成立する基準。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D4D4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D4D4D4"/>
                </a:solidFill>
                <a:latin typeface="Hiragino Sans"/>
                <a:ea typeface="Hiragino Sans"/>
                <a:cs typeface="Hiragino Sans"/>
              </a:rPr>
              <a:t>ただし手数料・税・返金前の売上総額。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66EF8-1F35-4A06-B980-E7C2CF5B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56197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9050">
            <a:solidFill>
              <a:srgbClr val="FF5A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7A0BF-9B11-43ED-A6C6-DFB3FFF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B  収益ポートフォリオ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E8A82-942F-4407-9159-A9E0776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217人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863D3-09A3-4199-BD2A-93A5646D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¥212,660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8DF7B-BE0E-496D-B9ED-84E71F4C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+ 求人アフィリ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51714-3F6C-41CD-8FA2-851227A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¥40,000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FA498-48AA-4F16-8185-15735BDF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+ 第三者広告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F5F87-6D7E-4A90-86C5-C74D38F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9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¥48,000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B5520-7F7B-442F-B75E-FCAA51D9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D7817-145D-4622-A8DE-110A6815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合計  ¥300,660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5349E-787A-4FE0-9EED-DABE847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4762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3275B-D898-42DA-8260-6448E719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各収益が2か月実測された場合のみ採用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B8BC3-429C-44D7-9DD3-672246E4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店舗からの掲載料・広告費は受け取らない。粗利・利益は別途、手数料と運用費を引いて管理する。</a:t>
            </a:r>
          </a:p>
        </p:txBody>
      </p:sp>
    </p:spTree>
    <p:extLst>
      <p:ext uri="{BB962C8B-B14F-4D97-AF65-F5344CB8AC3E}">
        <p14:creationId xmlns:p14="http://schemas.microsoft.com/office/powerpoint/2010/main" val="514107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9662D-BF64-41E9-B931-99A1AAA3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A3446-0DD8-4D31-BCF6-8F5E089D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1E0AC-AB89-44E7-AFF3-24729FF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SUBSCRIBER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9499E-B61C-4628-B115-B46B07F1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5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217人へ到達する新規会員は、月42人ではなく約30人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4351-2468-407A-9A35-C6C712F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仮定：初期0人・月次解約率10%・毎月同数の新規有料会員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BA0C9-E14B-4C76-B7DC-EEBC7F94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28EEF-25E6-4E45-983A-80629F4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E8263-F08D-49BB-8EA3-3E68742C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B6939-9FB3-4D0C-ACCB-EC2ED3DB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N₁₂ = x × (1 − 0.9¹²) ÷ (1 − 0.9)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305F3-0860-49AD-B223-9AE23D74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217 = x × 7.1757  →  x = 30.24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C01DD-C900-4594-BC5A-CDFA47EE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257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DCB52-9E12-4B16-8356-249228F3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30人 / 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C84FB-E3E6-4694-91BE-C39CC705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12か月で217人へ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89384-5F42-4B48-8559-B03B55A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FCFC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CFCFCF"/>
                </a:solidFill>
                <a:latin typeface="Hiragino Sans"/>
                <a:ea typeface="Hiragino Sans"/>
                <a:cs typeface="Hiragino Sans"/>
              </a:rPr>
              <a:t>※端数を見て31人で運用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E71F0-B8B5-404C-B620-8333570B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33337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C6431-C367-480B-BB62-029B33C4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到達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E6F31-D121-41E2-97B8-8E9DC443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30.2人 / 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0109D-5223-44EC-9DEC-88FFEA92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12か月後 217人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C1F44-B6F9-4C49-B12C-D20634AC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67150"/>
            <a:ext cx="33337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89427-69CA-4278-A864-2D1CA32D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5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維持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9CECE-8F36-4D58-A9A2-3B1DB2BE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38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21.7人 / 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349D9-CE3D-4914-8029-363F4701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72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217人 × 解約10%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42C9B-3C31-4A18-9EC7-B4BAEA0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3337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9525">
            <a:solidFill>
              <a:srgbClr val="C946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D551D-F1A0-402B-8681-2BCCD0A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元資料の42人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AA502-FC9A-4FD7-B564-8A66933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約301人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AEFA6-0589-4002-9AF4-5D070533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同じ仮定なら目標超過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48655-B6E2-4CB7-A30B-C4970710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重要：解約率10%はまだ実測値ではない。課金後は実績で毎月更新する。</a:t>
            </a:r>
          </a:p>
        </p:txBody>
      </p:sp>
    </p:spTree>
    <p:extLst>
      <p:ext uri="{BB962C8B-B14F-4D97-AF65-F5344CB8AC3E}">
        <p14:creationId xmlns:p14="http://schemas.microsoft.com/office/powerpoint/2010/main" val="20192961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2B9B0-22CD-4E2F-B8BF-CACBBCB2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C052C-D47E-4F54-BDED-0A9620EA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9EF6E-202A-49B9-B39A-D27E5EBA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MEASUREMENT &amp; GUARDRAILS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35290-819A-43C0-A545-B6F4FA5D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KPIの分母を正しく置き、悪化時は戻す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E9188-128F-4860-8189-0F1852E1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C66C3-7C86-4BBC-9D43-A87C357A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64CD1-8DED-4D76-8C35-C3FA2A2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利用規模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402BD-5F4F-4000-8B44-C1678EE4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859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M28アクティブユーザー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8EACC-4292-4716-88D5-0306D3F0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049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サイト全体の到達規模を見る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87400-881A-41BB-A9EC-112F96CF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8073E-B595-4BA4-ABA3-521F5AD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購入CVR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E8992-4736-4C47-9AB1-D8E938D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479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購入者 ÷ ユニークなペイウォール接触者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EBBF4-90DA-42F2-A0F2-610484E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GA4利用者を分母にしない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D88A3-2F3D-4F17-A5AD-52450EB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2EEA2-C232-461F-B80B-F7F972BD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有効口コミ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08541-23C6-4B15-8D04-6F2ABAE6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99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200字以上・実体験・対象一致・重複なし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9D8D7-231C-41AA-94D2-5C9F212E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289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高評価や掲載保証は条件にしない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FB692-11EF-4D04-88D6-B4236F6B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82E33-0F1C-4069-8A22-5223B029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自走UGC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2EE1B-F78B-47F1-8EDA-7C1D91FE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非運営投稿数 ＋ ユニーク投稿者数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7440F-7662-4790-9806-7D6497CE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同一人物の量産と区別する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7C12D-061D-46D3-A468-7999D36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5FB5E-2E62-4AB3-9923-A0AD11D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収益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677D9-E572-430C-B7B1-90A48B53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339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売上総額 / 手数料 / 返金 / 運用費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36949-B41F-49D7-9418-6D8B6CDD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529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売上と利益を混同しない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8E76C-A135-40E6-AF6C-FA9948E3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BA9801-0CD6-47B3-93E9-5B5A9EAD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DEA"/>
          </a:solidFill>
          <a:ln xmlns:a="http://schemas.openxmlformats.org/drawingml/2006/main" w="9525">
            <a:solidFill>
              <a:srgbClr val="C946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35CAA-63C9-4100-8DC0-FD338281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STOP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BA264-B6C1-4145-BC95-74A99FC5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81675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C9463D"/>
                </a:solidFill>
                <a:latin typeface="Hiragino Sans"/>
                <a:ea typeface="Hiragino Sans"/>
                <a:cs typeface="Hiragino Sans"/>
              </a:rPr>
              <a:t>課金CTA導入後、4週UGC率が導入前8週平均の70%未満で2週続いたら、CTAを縮小・撤回する</a:t>
            </a:r>
          </a:p>
        </p:txBody>
      </p:sp>
    </p:spTree>
    <p:extLst>
      <p:ext uri="{BB962C8B-B14F-4D97-AF65-F5344CB8AC3E}">
        <p14:creationId xmlns:p14="http://schemas.microsoft.com/office/powerpoint/2010/main" val="1411990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E11082-3693-44BD-8C9B-C6DFC5D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ED563-97FF-4AA9-9B8A-7ACF500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19355-D761-4688-9776-500BE10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NEXT 7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45B4D-96F4-40B9-8298-CD41A3C6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今週は4つだけ動かす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9EF30-8077-464C-8199-B71C32E8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実装済みの機能を使い、検証に必要な現実のデータを作る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F1A2A-3CAA-478C-AE80-E6289763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81775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MEN-ESTHE MAP  |  REVISED GROWTH PLAN  |  2026.08.14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C43F7-2162-48CB-9D5A-251DA56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929292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660EF-176B-4B55-B9E5-4F0D782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14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9050">
            <a:solidFill>
              <a:srgbClr val="FF5A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74255-063D-49AB-9689-0A4AFCD8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4CCCD-7475-41CF-B0E9-1C11D578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協力者10人へ招待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3618C-1AE8-4F01-98BB-C3650973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03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32614-65B7-4B34-8B0B-4C71EBDB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X・紹介・応募・知人。実体験のみ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8B3C2-AF1B-4C48-BF04-4614EFAF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4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15D8C-62F1-4AD6-A349-22D50EC1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CA6D6-5CD4-4DB2-B321-D302F49F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85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本命3ページを各5件へ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6E15F-8C3C-499E-8087-1117A8D2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249AB-F9FF-4CCB-B434-5051565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812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口コミを薄く広げず、密度を作る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814E4-B3CA-4737-A605-5D2867E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514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41695-413D-4794-A70E-C7FB12E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DE7B6-242C-49DF-85B0-4EA18E6B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3＋3ページを固定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14143-D6D8-49C3-B0A9-DAB60F53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5788E-5860-4F00-8734-466A8ED8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GSCで索引・表示・順位を4週追跡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C065C-B195-4110-860E-39AFFEE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514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ECC0E-A2D8-41F0-B327-564AF104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9D4D2-0EB5-42C4-936A-D05AF234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242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/statsを10件配布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54380-A97D-4CF9-80B7-A7DD470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3862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D1"/>
          </a:solidFill>
          <a:ln xmlns:a="http://schemas.openxmlformats.org/drawingml/2006/main" w="0">
            <a:solidFill>
              <a:srgbClr val="D9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25F87-0C59-4876-9AED-9A20D9BC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66666"/>
                </a:solidFill>
                <a:latin typeface="Hiragino Sans"/>
                <a:ea typeface="Hiragino Sans"/>
                <a:cs typeface="Hiragino Sans"/>
              </a:rPr>
              <a:t>関連メディアへ引用・紹介を依頼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71907-883D-4123-A53E-2CB4B232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D58A7-378C-4670-93B4-5422E4D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5A36"/>
                </a:solidFill>
                <a:latin typeface="Hiragino Sans"/>
                <a:ea typeface="Hiragino Sans"/>
                <a:cs typeface="Hiragino Sans"/>
              </a:rPr>
              <a:t>今週やらない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E103F-8624-4D5D-A2F0-209B5DF6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435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新ダッシュボード  /  UI再改修  /  課金実装  /  決済申請の見切り発車</a:t>
            </a:r>
          </a:p>
        </p:txBody>
      </p:sp>
    </p:spTree>
    <p:extLst>
      <p:ext uri="{BB962C8B-B14F-4D97-AF65-F5344CB8AC3E}">
        <p14:creationId xmlns:p14="http://schemas.microsoft.com/office/powerpoint/2010/main" val="242957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2026-08-14T04:17:36.9750000Z</dcterms:created>
  <dcterms:modified xsi:type="dcterms:W3CDTF">2026-08-14T04:17:36.9750000Z</dcterms:modified>
</coreProperties>
</file>